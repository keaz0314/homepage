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2" r:id="rId3"/>
    <p:sldId id="257" r:id="rId4"/>
    <p:sldId id="258" r:id="rId5"/>
    <p:sldId id="260" r:id="rId6"/>
    <p:sldId id="259" r:id="rId7"/>
    <p:sldId id="261" r:id="rId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FF4343"/>
    <a:srgbClr val="FF3737"/>
    <a:srgbClr val="FC9A09"/>
    <a:srgbClr val="73B448"/>
    <a:srgbClr val="568C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10" autoAdjust="0"/>
    <p:restoredTop sz="94660"/>
  </p:normalViewPr>
  <p:slideViewPr>
    <p:cSldViewPr snapToGrid="0">
      <p:cViewPr>
        <p:scale>
          <a:sx n="50" d="100"/>
          <a:sy n="50" d="100"/>
        </p:scale>
        <p:origin x="672" y="2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CA1A221-0B3A-6BDF-6877-2BBA8E88360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38BD49D9-80F5-52A7-F256-2E6CA8DDC9B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FB41B39-7336-4D27-4A49-0C2F70E812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96579-FC8F-4DA5-89E7-FDD2B711AAA5}" type="datetimeFigureOut">
              <a:rPr lang="ko-KR" altLang="en-US" smtClean="0"/>
              <a:t>2025-05-27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B9D3009-5111-1EC1-12DA-B5C8451F38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2B361C7-3394-B1D4-E973-3CAD6743C8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67F25B-4D53-49EA-8BB1-282DA9B109B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797979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8B30127-942E-E75F-5A3F-62BFEA5229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55DAABF-E031-CB72-5624-99600FB262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2E5D711-5D72-E232-6151-08F4130C93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96579-FC8F-4DA5-89E7-FDD2B711AAA5}" type="datetimeFigureOut">
              <a:rPr lang="ko-KR" altLang="en-US" smtClean="0"/>
              <a:t>2025-05-27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6FBA32A-0A81-0210-2BCF-D02ADFF0E8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EC69904-4A4A-3C8A-03BC-AE5C47B66E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67F25B-4D53-49EA-8BB1-282DA9B109B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493300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AF23341-A895-C985-4AEC-0707F2B764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FCE24A2-669E-842F-7DF1-CD66833B53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547977B-BCDA-A5DB-6285-91D7E86B6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96579-FC8F-4DA5-89E7-FDD2B711AAA5}" type="datetimeFigureOut">
              <a:rPr lang="ko-KR" altLang="en-US" smtClean="0"/>
              <a:t>2025-05-27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FF4EE80-E6AB-AA37-4229-37E60489E6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23C8CD1-FF25-823E-9FBD-012EF86C2C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67F25B-4D53-49EA-8BB1-282DA9B109B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835146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B793621-4037-5ACE-F2FB-6D34491605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EB2180A-76B3-82DC-E0F3-F1737FE37C5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E8A2C1E-99CC-3367-04E2-EAEF97BB6BF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75EF87D-41C7-FF69-4AFA-DD1245F654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96579-FC8F-4DA5-89E7-FDD2B711AAA5}" type="datetimeFigureOut">
              <a:rPr lang="ko-KR" altLang="en-US" smtClean="0"/>
              <a:t>2025-05-27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C1F4C48-ACFB-570F-007C-C4B75D1DDD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20D8D0F-9F1B-E6AA-00F9-9B8C7DF773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67F25B-4D53-49EA-8BB1-282DA9B109B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96328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EDDE1FE-8859-12BE-575C-5943956821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66573E3-BBF7-096C-1A7E-A44757AD35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5BDF130-6658-1723-739F-635203AD16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F7074165-F7A3-88EE-7440-ED43DC617E4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4A4597E4-2A75-5B2F-33C8-4B06A902999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DF364100-B569-015F-F8FD-81FED2DCAC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96579-FC8F-4DA5-89E7-FDD2B711AAA5}" type="datetimeFigureOut">
              <a:rPr lang="ko-KR" altLang="en-US" smtClean="0"/>
              <a:t>2025-05-27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3347A914-A2A8-F0DF-5997-BEDB924916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E0A317AB-7AFC-FAC0-5E47-9E34DB1BB7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67F25B-4D53-49EA-8BB1-282DA9B109B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101588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0B275CF-7AE4-59AB-E3C6-3F7F17C09A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31670C7E-044E-2912-1702-D85113AABF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96579-FC8F-4DA5-89E7-FDD2B711AAA5}" type="datetimeFigureOut">
              <a:rPr lang="ko-KR" altLang="en-US" smtClean="0"/>
              <a:t>2025-05-27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5020A8B7-AC35-3C48-1FE7-895787F43F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C0AF392-6E74-472F-AA32-7838B178AB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67F25B-4D53-49EA-8BB1-282DA9B109B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823896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6F42C247-45CF-B35C-263F-6E01E3D50A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96579-FC8F-4DA5-89E7-FDD2B711AAA5}" type="datetimeFigureOut">
              <a:rPr lang="ko-KR" altLang="en-US" smtClean="0"/>
              <a:t>2025-05-27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43422E19-B122-2315-F3FF-02C284D81D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849CD4E-5EC1-723C-8D7B-BF40FEE6F2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67F25B-4D53-49EA-8BB1-282DA9B109B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062479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DF0601F-917F-3F65-04A4-323266BF1E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D8B390D-2F1D-742C-15A9-E4EFD8BE82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29BD578-530F-1260-D804-A1C9B1C72F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C645D6A-D4BD-F353-1734-6E10DAC615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96579-FC8F-4DA5-89E7-FDD2B711AAA5}" type="datetimeFigureOut">
              <a:rPr lang="ko-KR" altLang="en-US" smtClean="0"/>
              <a:t>2025-05-27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2AA9796-4821-BE27-998A-F68D60E6E1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A2713E9-F326-2CA2-0C06-74CF5ABEB0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67F25B-4D53-49EA-8BB1-282DA9B109B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70290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339BCC5-C5FE-360B-D8F0-51B00B340D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D1A01EEA-8EAA-5BC4-9516-4E5B76DF77D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C79DD86-E6D0-39CD-1C5B-A927FE2FCC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1BE3666-C84A-9C8E-D925-6FEC710332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96579-FC8F-4DA5-89E7-FDD2B711AAA5}" type="datetimeFigureOut">
              <a:rPr lang="ko-KR" altLang="en-US" smtClean="0"/>
              <a:t>2025-05-27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B83A25A-587F-FD68-3EFB-EB7ED5C7E2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29B7CBA-2CDD-9736-0FF5-8B947A69FC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67F25B-4D53-49EA-8BB1-282DA9B109B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336757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06EB7CA-F41F-6AAE-4800-7E33AEEE72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5CF9B687-8916-833C-6F43-8468CC83C2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3F9914C-59A5-7FC7-D627-CE9A3CCDB1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96579-FC8F-4DA5-89E7-FDD2B711AAA5}" type="datetimeFigureOut">
              <a:rPr lang="ko-KR" altLang="en-US" smtClean="0"/>
              <a:t>2025-05-27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8EBDF3A-3C20-9DEA-DDC9-4974CD5A6F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B69235A-F923-CBE2-D0A7-2063E12626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67F25B-4D53-49EA-8BB1-282DA9B109B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99194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77E1799C-9E7C-7B0A-A93C-D22E4405509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B231522-B407-C7FF-5D66-F468CB2A3F7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6E0127D-D66A-851C-A69F-7BAAAFE951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96579-FC8F-4DA5-89E7-FDD2B711AAA5}" type="datetimeFigureOut">
              <a:rPr lang="ko-KR" altLang="en-US" smtClean="0"/>
              <a:t>2025-05-27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C763238-20BE-6D05-61F6-DE3C25CD6A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C086105-FC75-660F-7EC7-9C9E7E9CA8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67F25B-4D53-49EA-8BB1-282DA9B109B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189793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505A0165-56DA-1466-C524-6C527D439C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CB12EC2-3256-5249-5EAF-9080DBBC35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1572FBE-45DA-0A19-A9CB-E0D012FEF99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8496579-FC8F-4DA5-89E7-FDD2B711AAA5}" type="datetimeFigureOut">
              <a:rPr lang="ko-KR" altLang="en-US" smtClean="0"/>
              <a:t>2025-05-27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C923C75-B909-16FE-3B44-32E4981A5AB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19B3720-8110-1B11-5FF4-088B400297B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867F25B-4D53-49EA-8BB1-282DA9B109B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038179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그룹 8">
            <a:extLst>
              <a:ext uri="{FF2B5EF4-FFF2-40B4-BE49-F238E27FC236}">
                <a16:creationId xmlns:a16="http://schemas.microsoft.com/office/drawing/2014/main" id="{0FD980F9-70AD-631D-F18B-580A33D7ADDA}"/>
              </a:ext>
            </a:extLst>
          </p:cNvPr>
          <p:cNvGrpSpPr/>
          <p:nvPr/>
        </p:nvGrpSpPr>
        <p:grpSpPr>
          <a:xfrm>
            <a:off x="825375" y="833874"/>
            <a:ext cx="4912060" cy="6024126"/>
            <a:chOff x="3530475" y="833874"/>
            <a:chExt cx="4912060" cy="6024126"/>
          </a:xfrm>
          <a:effectLst>
            <a:outerShdw blurRad="190500" dist="76200" dir="2700000" sx="102000" sy="102000" algn="tl" rotWithShape="0">
              <a:prstClr val="black">
                <a:alpha val="40000"/>
              </a:prstClr>
            </a:outerShdw>
          </a:effectLst>
        </p:grpSpPr>
        <p:pic>
          <p:nvPicPr>
            <p:cNvPr id="5" name="그림 4" descr="회로, 전자 공학, 전자제품, 전자 부품이(가) 표시된 사진&#10;&#10;AI가 생성한 콘텐츠는 부정확할 수 있습니다.">
              <a:extLst>
                <a:ext uri="{FF2B5EF4-FFF2-40B4-BE49-F238E27FC236}">
                  <a16:creationId xmlns:a16="http://schemas.microsoft.com/office/drawing/2014/main" id="{6D2833E9-606F-0885-DBE5-FFAE8994926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0700" t="-1" r="7760" b="-1"/>
            <a:stretch/>
          </p:blipFill>
          <p:spPr>
            <a:xfrm>
              <a:off x="3530475" y="833875"/>
              <a:ext cx="4912060" cy="6024125"/>
            </a:xfrm>
            <a:prstGeom prst="rect">
              <a:avLst/>
            </a:prstGeom>
            <a:effectLst/>
          </p:spPr>
        </p:pic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D7CCD159-0F74-86DB-0906-0BA65DE404DC}"/>
                </a:ext>
              </a:extLst>
            </p:cNvPr>
            <p:cNvSpPr/>
            <p:nvPr/>
          </p:nvSpPr>
          <p:spPr>
            <a:xfrm>
              <a:off x="3530475" y="833874"/>
              <a:ext cx="4912060" cy="6024125"/>
            </a:xfrm>
            <a:prstGeom prst="rect">
              <a:avLst/>
            </a:prstGeom>
            <a:gradFill>
              <a:gsLst>
                <a:gs pos="100000">
                  <a:schemeClr val="accent1">
                    <a:lumMod val="5000"/>
                    <a:lumOff val="95000"/>
                    <a:alpha val="0"/>
                  </a:schemeClr>
                </a:gs>
                <a:gs pos="25000">
                  <a:srgbClr val="FEFEFF"/>
                </a:gs>
                <a:gs pos="0">
                  <a:schemeClr val="bg1"/>
                </a:gs>
              </a:gsLst>
              <a:lin ang="3000000" scaled="0"/>
            </a:gra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068E76E2-6331-9765-30AD-FAB34BFBB06C}"/>
              </a:ext>
            </a:extLst>
          </p:cNvPr>
          <p:cNvSpPr txBox="1"/>
          <p:nvPr/>
        </p:nvSpPr>
        <p:spPr>
          <a:xfrm>
            <a:off x="933537" y="902455"/>
            <a:ext cx="3743238" cy="2677656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just"/>
            <a:r>
              <a:rPr lang="en-US" altLang="ko-KR" b="1" dirty="0">
                <a:solidFill>
                  <a:schemeClr val="tx1">
                    <a:lumMod val="85000"/>
                    <a:lumOff val="15000"/>
                    <a:alpha val="8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System on Chip</a:t>
            </a:r>
            <a:r>
              <a:rPr lang="en-US" altLang="ko-KR" sz="1400" b="1" dirty="0">
                <a:solidFill>
                  <a:schemeClr val="tx1">
                    <a:lumMod val="85000"/>
                    <a:lumOff val="15000"/>
                    <a:alpha val="8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  <a:alpha val="8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technology is a key driver in the IT industry, integrating multiple chip functions onto one die for benefits like higher integration, lower power, and reduced costs.</a:t>
            </a:r>
          </a:p>
          <a:p>
            <a:pPr algn="just"/>
            <a:r>
              <a:rPr lang="en-US" altLang="ko-KR" sz="1400" dirty="0">
                <a:solidFill>
                  <a:schemeClr val="tx1">
                    <a:lumMod val="85000"/>
                    <a:lumOff val="15000"/>
                    <a:alpha val="8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This is crucial for mobile devices, smart cars, robotics, 3D imaging, and medical equipment.</a:t>
            </a:r>
          </a:p>
          <a:p>
            <a:pPr algn="just"/>
            <a:r>
              <a:rPr lang="en-US" altLang="ko-KR" sz="1400" dirty="0">
                <a:solidFill>
                  <a:schemeClr val="tx1">
                    <a:lumMod val="85000"/>
                    <a:lumOff val="15000"/>
                    <a:alpha val="8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Our lab focuses on SoCs, embedded systems, computer vision, and digital circuit design, with a practical emphasis on FPGA implementation and ASIC development.</a:t>
            </a:r>
          </a:p>
        </p:txBody>
      </p:sp>
      <p:pic>
        <p:nvPicPr>
          <p:cNvPr id="21" name="그림 20">
            <a:extLst>
              <a:ext uri="{FF2B5EF4-FFF2-40B4-BE49-F238E27FC236}">
                <a16:creationId xmlns:a16="http://schemas.microsoft.com/office/drawing/2014/main" id="{403CCBC1-A5F4-501C-9D29-56B457A4D6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4567" y="328618"/>
            <a:ext cx="5401524" cy="65293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07213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그룹 11">
            <a:extLst>
              <a:ext uri="{FF2B5EF4-FFF2-40B4-BE49-F238E27FC236}">
                <a16:creationId xmlns:a16="http://schemas.microsoft.com/office/drawing/2014/main" id="{7931A6D1-A3C3-E245-6506-A5C6040008EB}"/>
              </a:ext>
            </a:extLst>
          </p:cNvPr>
          <p:cNvGrpSpPr/>
          <p:nvPr/>
        </p:nvGrpSpPr>
        <p:grpSpPr>
          <a:xfrm>
            <a:off x="4546176" y="5829300"/>
            <a:ext cx="7383772" cy="865814"/>
            <a:chOff x="608015" y="3069161"/>
            <a:chExt cx="12726985" cy="1492354"/>
          </a:xfrm>
          <a:effectLst>
            <a:outerShdw blurRad="152400" dist="50800" dir="2400000" algn="tl" rotWithShape="0">
              <a:prstClr val="black">
                <a:alpha val="20000"/>
              </a:prstClr>
            </a:outerShdw>
          </a:effectLst>
        </p:grpSpPr>
        <p:pic>
          <p:nvPicPr>
            <p:cNvPr id="5" name="그림 4" descr="그래픽, 스크린샷, 폰트, 양초이(가) 표시된 사진&#10;&#10;AI가 생성한 콘텐츠는 부정확할 수 있습니다.">
              <a:extLst>
                <a:ext uri="{FF2B5EF4-FFF2-40B4-BE49-F238E27FC236}">
                  <a16:creationId xmlns:a16="http://schemas.microsoft.com/office/drawing/2014/main" id="{250B954D-F6FB-E84D-5DA4-54F30AB8E0D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719298" y="3069161"/>
              <a:ext cx="3615702" cy="1441554"/>
            </a:xfrm>
            <a:prstGeom prst="rect">
              <a:avLst/>
            </a:prstGeom>
          </p:spPr>
        </p:pic>
        <p:pic>
          <p:nvPicPr>
            <p:cNvPr id="11" name="그림 10" descr="텍스트, 폰트, 그래픽, 그래픽 디자인이(가) 표시된 사진&#10;&#10;AI가 생성한 콘텐츠는 부정확할 수 있습니다.">
              <a:extLst>
                <a:ext uri="{FF2B5EF4-FFF2-40B4-BE49-F238E27FC236}">
                  <a16:creationId xmlns:a16="http://schemas.microsoft.com/office/drawing/2014/main" id="{84398EDC-F23B-6608-8E74-09F1E8D99E4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08015" y="3249374"/>
              <a:ext cx="8577260" cy="1312141"/>
            </a:xfrm>
            <a:prstGeom prst="rect">
              <a:avLst/>
            </a:prstGeom>
          </p:spPr>
        </p:pic>
      </p:grp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030F0DED-A3E7-D39B-8E4F-C4FFFC5EDF40}"/>
              </a:ext>
            </a:extLst>
          </p:cNvPr>
          <p:cNvSpPr/>
          <p:nvPr/>
        </p:nvSpPr>
        <p:spPr>
          <a:xfrm>
            <a:off x="419100" y="916258"/>
            <a:ext cx="9103316" cy="1547542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2800" b="1" dirty="0">
                <a:gradFill>
                  <a:gsLst>
                    <a:gs pos="0">
                      <a:schemeClr val="tx1"/>
                    </a:gs>
                    <a:gs pos="100000">
                      <a:schemeClr val="tx1">
                        <a:lumMod val="50000"/>
                        <a:lumOff val="50000"/>
                      </a:schemeClr>
                    </a:gs>
                  </a:gsLst>
                  <a:lin ang="5400000" scaled="0"/>
                </a:gradFill>
              </a:rPr>
              <a:t>COPYRIGHT(C) SoC LAB. ALL RIGHTS RESERVED</a:t>
            </a:r>
          </a:p>
          <a:p>
            <a:r>
              <a:rPr lang="en-US" altLang="ko-KR" dirty="0">
                <a:gradFill>
                  <a:gsLst>
                    <a:gs pos="0">
                      <a:schemeClr val="tx1"/>
                    </a:gs>
                    <a:gs pos="100000">
                      <a:schemeClr val="tx1">
                        <a:lumMod val="50000"/>
                        <a:lumOff val="50000"/>
                      </a:schemeClr>
                    </a:gs>
                  </a:gsLst>
                  <a:lin ang="5400000" scaled="0"/>
                </a:gradFill>
              </a:rPr>
              <a:t>#725, Dept. of School of Electronics. College of IT engineering (IT-1)</a:t>
            </a:r>
          </a:p>
          <a:p>
            <a:r>
              <a:rPr lang="en-US" altLang="ko-KR" dirty="0">
                <a:gradFill>
                  <a:gsLst>
                    <a:gs pos="0">
                      <a:schemeClr val="tx1"/>
                    </a:gs>
                    <a:gs pos="100000">
                      <a:schemeClr val="tx1">
                        <a:lumMod val="50000"/>
                        <a:lumOff val="50000"/>
                      </a:schemeClr>
                    </a:gs>
                  </a:gsLst>
                  <a:lin ang="5400000" scaled="0"/>
                </a:gradFill>
              </a:rPr>
              <a:t>Kyungpook National University, 80, </a:t>
            </a:r>
            <a:r>
              <a:rPr lang="en-US" altLang="ko-KR" dirty="0" err="1">
                <a:gradFill>
                  <a:gsLst>
                    <a:gs pos="0">
                      <a:schemeClr val="tx1"/>
                    </a:gs>
                    <a:gs pos="100000">
                      <a:schemeClr val="tx1">
                        <a:lumMod val="50000"/>
                        <a:lumOff val="50000"/>
                      </a:schemeClr>
                    </a:gs>
                  </a:gsLst>
                  <a:lin ang="5400000" scaled="0"/>
                </a:gradFill>
              </a:rPr>
              <a:t>Daehak-ro</a:t>
            </a:r>
            <a:r>
              <a:rPr lang="en-US" altLang="ko-KR" dirty="0">
                <a:gradFill>
                  <a:gsLst>
                    <a:gs pos="0">
                      <a:schemeClr val="tx1"/>
                    </a:gs>
                    <a:gs pos="100000">
                      <a:schemeClr val="tx1">
                        <a:lumMod val="50000"/>
                        <a:lumOff val="50000"/>
                      </a:schemeClr>
                    </a:gs>
                  </a:gsLst>
                  <a:lin ang="5400000" scaled="0"/>
                </a:gradFill>
              </a:rPr>
              <a:t>, Buk-</a:t>
            </a:r>
            <a:r>
              <a:rPr lang="en-US" altLang="ko-KR" dirty="0" err="1">
                <a:gradFill>
                  <a:gsLst>
                    <a:gs pos="0">
                      <a:schemeClr val="tx1"/>
                    </a:gs>
                    <a:gs pos="100000">
                      <a:schemeClr val="tx1">
                        <a:lumMod val="50000"/>
                        <a:lumOff val="50000"/>
                      </a:schemeClr>
                    </a:gs>
                  </a:gsLst>
                  <a:lin ang="5400000" scaled="0"/>
                </a:gradFill>
              </a:rPr>
              <a:t>gu</a:t>
            </a:r>
            <a:r>
              <a:rPr lang="en-US" altLang="ko-KR" dirty="0">
                <a:gradFill>
                  <a:gsLst>
                    <a:gs pos="0">
                      <a:schemeClr val="tx1"/>
                    </a:gs>
                    <a:gs pos="100000">
                      <a:schemeClr val="tx1">
                        <a:lumMod val="50000"/>
                        <a:lumOff val="50000"/>
                      </a:schemeClr>
                    </a:gs>
                  </a:gsLst>
                  <a:lin ang="5400000" scaled="0"/>
                </a:gradFill>
              </a:rPr>
              <a:t>, Daegu, Republic of Korea</a:t>
            </a:r>
          </a:p>
          <a:p>
            <a:r>
              <a:rPr lang="en-US" altLang="ko-KR" dirty="0">
                <a:gradFill>
                  <a:gsLst>
                    <a:gs pos="0">
                      <a:schemeClr val="tx1"/>
                    </a:gs>
                    <a:gs pos="100000">
                      <a:schemeClr val="tx1">
                        <a:lumMod val="50000"/>
                        <a:lumOff val="50000"/>
                      </a:schemeClr>
                    </a:gs>
                  </a:gsLst>
                  <a:lin ang="5400000" scaled="0"/>
                </a:gradFill>
              </a:rPr>
              <a:t>Tel : +82-53-940-8680</a:t>
            </a: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A9FB9D34-3060-2B7F-2522-554486C29E5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700683" y="5836985"/>
            <a:ext cx="5937037" cy="1065521"/>
          </a:xfrm>
          <a:prstGeom prst="rect">
            <a:avLst/>
          </a:prstGeom>
          <a:effectLst>
            <a:outerShdw blurRad="203200" dist="38100" dir="2700000" sx="102000" sy="102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C383101E-0B84-35A7-F010-2B074E253A1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2778795"/>
            <a:ext cx="12192000" cy="13004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70741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그림 9">
            <a:extLst>
              <a:ext uri="{FF2B5EF4-FFF2-40B4-BE49-F238E27FC236}">
                <a16:creationId xmlns:a16="http://schemas.microsoft.com/office/drawing/2014/main" id="{7D2EA6B9-9E8A-1B4A-CBE5-62461ACB95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442" y="0"/>
            <a:ext cx="10989115" cy="6858000"/>
          </a:xfrm>
          <a:prstGeom prst="rect">
            <a:avLst/>
          </a:prstGeom>
        </p:spPr>
      </p:pic>
      <p:grpSp>
        <p:nvGrpSpPr>
          <p:cNvPr id="26" name="그룹 25">
            <a:extLst>
              <a:ext uri="{FF2B5EF4-FFF2-40B4-BE49-F238E27FC236}">
                <a16:creationId xmlns:a16="http://schemas.microsoft.com/office/drawing/2014/main" id="{64777530-E0EF-9B02-95CB-D2CBEE1F8AAB}"/>
              </a:ext>
            </a:extLst>
          </p:cNvPr>
          <p:cNvGrpSpPr/>
          <p:nvPr/>
        </p:nvGrpSpPr>
        <p:grpSpPr>
          <a:xfrm>
            <a:off x="4127769" y="1106685"/>
            <a:ext cx="3936462" cy="4466828"/>
            <a:chOff x="4127769" y="1106685"/>
            <a:chExt cx="3936462" cy="4466828"/>
          </a:xfrm>
        </p:grpSpPr>
        <p:sp>
          <p:nvSpPr>
            <p:cNvPr id="11" name="화살표: 오른쪽 10">
              <a:extLst>
                <a:ext uri="{FF2B5EF4-FFF2-40B4-BE49-F238E27FC236}">
                  <a16:creationId xmlns:a16="http://schemas.microsoft.com/office/drawing/2014/main" id="{1B7228F1-4F24-A29C-BE2D-5E08CF287C84}"/>
                </a:ext>
              </a:extLst>
            </p:cNvPr>
            <p:cNvSpPr/>
            <p:nvPr/>
          </p:nvSpPr>
          <p:spPr>
            <a:xfrm rot="18814280">
              <a:off x="5676419" y="1384379"/>
              <a:ext cx="2665505" cy="2110118"/>
            </a:xfrm>
            <a:prstGeom prst="rightArrow">
              <a:avLst>
                <a:gd name="adj1" fmla="val 50000"/>
                <a:gd name="adj2" fmla="val 33240"/>
              </a:avLst>
            </a:prstGeom>
            <a:ln/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" name="화살표: 오른쪽 11">
              <a:extLst>
                <a:ext uri="{FF2B5EF4-FFF2-40B4-BE49-F238E27FC236}">
                  <a16:creationId xmlns:a16="http://schemas.microsoft.com/office/drawing/2014/main" id="{8F4334CD-BDBE-D46B-EAAC-E55450D593B1}"/>
                </a:ext>
              </a:extLst>
            </p:cNvPr>
            <p:cNvSpPr/>
            <p:nvPr/>
          </p:nvSpPr>
          <p:spPr>
            <a:xfrm rot="2785720" flipH="1">
              <a:off x="3850075" y="1384379"/>
              <a:ext cx="2665505" cy="2110118"/>
            </a:xfrm>
            <a:prstGeom prst="rightArrow">
              <a:avLst>
                <a:gd name="adj1" fmla="val 50000"/>
                <a:gd name="adj2" fmla="val 33240"/>
              </a:avLst>
            </a:prstGeom>
            <a:ln/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3" name="화살표: 오른쪽 12">
              <a:extLst>
                <a:ext uri="{FF2B5EF4-FFF2-40B4-BE49-F238E27FC236}">
                  <a16:creationId xmlns:a16="http://schemas.microsoft.com/office/drawing/2014/main" id="{2D3F2AC8-24DC-5158-5637-1B23335A51BB}"/>
                </a:ext>
              </a:extLst>
            </p:cNvPr>
            <p:cNvSpPr/>
            <p:nvPr/>
          </p:nvSpPr>
          <p:spPr>
            <a:xfrm rot="2785720" flipV="1">
              <a:off x="5676419" y="3185702"/>
              <a:ext cx="2665505" cy="2110118"/>
            </a:xfrm>
            <a:prstGeom prst="rightArrow">
              <a:avLst>
                <a:gd name="adj1" fmla="val 50000"/>
                <a:gd name="adj2" fmla="val 33240"/>
              </a:avLst>
            </a:prstGeom>
            <a:ln/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" name="화살표: 오른쪽 13">
              <a:extLst>
                <a:ext uri="{FF2B5EF4-FFF2-40B4-BE49-F238E27FC236}">
                  <a16:creationId xmlns:a16="http://schemas.microsoft.com/office/drawing/2014/main" id="{5F38F7F0-4B57-C64A-29F7-1BBD0C02B4B4}"/>
                </a:ext>
              </a:extLst>
            </p:cNvPr>
            <p:cNvSpPr/>
            <p:nvPr/>
          </p:nvSpPr>
          <p:spPr>
            <a:xfrm rot="18814280" flipH="1" flipV="1">
              <a:off x="3850075" y="3185702"/>
              <a:ext cx="2665505" cy="2110118"/>
            </a:xfrm>
            <a:prstGeom prst="rightArrow">
              <a:avLst>
                <a:gd name="adj1" fmla="val 50000"/>
                <a:gd name="adj2" fmla="val 33240"/>
              </a:avLst>
            </a:prstGeom>
            <a:ln/>
          </p:spPr>
          <p:style>
            <a:lnRef idx="0">
              <a:schemeClr val="accent4"/>
            </a:lnRef>
            <a:fillRef idx="3">
              <a:schemeClr val="accent4"/>
            </a:fillRef>
            <a:effectRef idx="3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22" name="타원 21">
            <a:extLst>
              <a:ext uri="{FF2B5EF4-FFF2-40B4-BE49-F238E27FC236}">
                <a16:creationId xmlns:a16="http://schemas.microsoft.com/office/drawing/2014/main" id="{16CCC643-491C-3A36-072A-586C4CCAB705}"/>
              </a:ext>
            </a:extLst>
          </p:cNvPr>
          <p:cNvSpPr/>
          <p:nvPr/>
        </p:nvSpPr>
        <p:spPr>
          <a:xfrm>
            <a:off x="2399512" y="-374008"/>
            <a:ext cx="2548646" cy="2548646"/>
          </a:xfrm>
          <a:prstGeom prst="ellipse">
            <a:avLst/>
          </a:prstGeom>
          <a:effectLst>
            <a:outerShdw blurRad="190500" dist="101600" dir="2700000" sx="106000" sy="106000" algn="ctr" rotWithShape="0">
              <a:srgbClr val="000000">
                <a:alpha val="63000"/>
              </a:srgbClr>
            </a:outerShdw>
          </a:effectLst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lIns="0" tIns="0" rIns="0" bIns="0" rtlCol="0" anchor="ctr">
            <a:normAutofit/>
          </a:bodyPr>
          <a:lstStyle/>
          <a:p>
            <a:pPr algn="ctr"/>
            <a:endParaRPr lang="ko-KR" altLang="en-US" sz="2400" b="1" dirty="0"/>
          </a:p>
        </p:txBody>
      </p:sp>
      <p:sp>
        <p:nvSpPr>
          <p:cNvPr id="23" name="타원 22">
            <a:extLst>
              <a:ext uri="{FF2B5EF4-FFF2-40B4-BE49-F238E27FC236}">
                <a16:creationId xmlns:a16="http://schemas.microsoft.com/office/drawing/2014/main" id="{EEBBA0B1-485C-EA1C-CFF6-25FEB631F1E0}"/>
              </a:ext>
            </a:extLst>
          </p:cNvPr>
          <p:cNvSpPr/>
          <p:nvPr/>
        </p:nvSpPr>
        <p:spPr>
          <a:xfrm>
            <a:off x="7065522" y="-374008"/>
            <a:ext cx="2548646" cy="2548646"/>
          </a:xfrm>
          <a:prstGeom prst="ellipse">
            <a:avLst/>
          </a:prstGeom>
          <a:effectLst>
            <a:outerShdw blurRad="190500" dist="101600" dir="2700000" sx="106000" sy="106000" algn="ctr" rotWithShape="0">
              <a:srgbClr val="000000">
                <a:alpha val="63000"/>
              </a:srgbClr>
            </a:outerShdw>
          </a:effectLst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0" rtlCol="0" anchor="ctr">
            <a:normAutofit/>
          </a:bodyPr>
          <a:lstStyle/>
          <a:p>
            <a:pPr algn="ctr"/>
            <a:endParaRPr lang="ko-KR" altLang="en-US" sz="2400" b="1" dirty="0"/>
          </a:p>
        </p:txBody>
      </p:sp>
      <p:sp>
        <p:nvSpPr>
          <p:cNvPr id="24" name="타원 23">
            <a:extLst>
              <a:ext uri="{FF2B5EF4-FFF2-40B4-BE49-F238E27FC236}">
                <a16:creationId xmlns:a16="http://schemas.microsoft.com/office/drawing/2014/main" id="{D1DFE2F8-BFBD-3F7D-39A8-122E378CC9E5}"/>
              </a:ext>
            </a:extLst>
          </p:cNvPr>
          <p:cNvSpPr/>
          <p:nvPr/>
        </p:nvSpPr>
        <p:spPr>
          <a:xfrm>
            <a:off x="2399512" y="4481873"/>
            <a:ext cx="2548646" cy="2548646"/>
          </a:xfrm>
          <a:prstGeom prst="ellipse">
            <a:avLst/>
          </a:prstGeom>
          <a:effectLst>
            <a:outerShdw blurRad="190500" dist="101600" dir="2700000" sx="106000" sy="106000" algn="ctr" rotWithShape="0">
              <a:srgbClr val="000000">
                <a:alpha val="63000"/>
              </a:srgbClr>
            </a:outerShdw>
          </a:effectLst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lIns="0" tIns="0" rIns="0" bIns="0" rtlCol="0" anchor="ctr">
            <a:normAutofit/>
          </a:bodyPr>
          <a:lstStyle/>
          <a:p>
            <a:pPr algn="ctr"/>
            <a:endParaRPr lang="ko-KR" altLang="en-US" sz="2400" b="1" dirty="0"/>
          </a:p>
        </p:txBody>
      </p:sp>
      <p:sp>
        <p:nvSpPr>
          <p:cNvPr id="25" name="타원 24">
            <a:extLst>
              <a:ext uri="{FF2B5EF4-FFF2-40B4-BE49-F238E27FC236}">
                <a16:creationId xmlns:a16="http://schemas.microsoft.com/office/drawing/2014/main" id="{2F4AA20D-606B-2B0E-A700-5D603B525A63}"/>
              </a:ext>
            </a:extLst>
          </p:cNvPr>
          <p:cNvSpPr/>
          <p:nvPr/>
        </p:nvSpPr>
        <p:spPr>
          <a:xfrm>
            <a:off x="7065522" y="4481873"/>
            <a:ext cx="2548646" cy="2548646"/>
          </a:xfrm>
          <a:prstGeom prst="ellipse">
            <a:avLst/>
          </a:prstGeom>
          <a:effectLst>
            <a:outerShdw blurRad="190500" dist="101600" dir="2700000" sx="106000" sy="106000" algn="ctr" rotWithShape="0">
              <a:srgbClr val="000000">
                <a:alpha val="63000"/>
              </a:srgbClr>
            </a:outerShdw>
          </a:effectLst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rmAutofit/>
          </a:bodyPr>
          <a:lstStyle/>
          <a:p>
            <a:pPr algn="ctr"/>
            <a:endParaRPr lang="ko-KR" altLang="en-US" sz="2400" b="1" dirty="0"/>
          </a:p>
        </p:txBody>
      </p:sp>
      <p:pic>
        <p:nvPicPr>
          <p:cNvPr id="5" name="그림 4" descr="회로, 전자 공학, 전자제품, 다채로움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F378D9BD-2C9A-D035-CAD8-986FD045107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6543" b="92627" l="5420" r="96484">
                        <a14:foregroundMark x1="17920" y1="37500" x2="17920" y2="37500"/>
                        <a14:foregroundMark x1="15674" y1="40430" x2="41162" y2="20410"/>
                        <a14:foregroundMark x1="41162" y1="20410" x2="43750" y2="15137"/>
                        <a14:foregroundMark x1="39600" y1="17773" x2="29004" y2="26123"/>
                        <a14:foregroundMark x1="44434" y1="13623" x2="30811" y2="23633"/>
                        <a14:foregroundMark x1="48633" y1="9863" x2="48633" y2="9863"/>
                        <a14:foregroundMark x1="44727" y1="14014" x2="50342" y2="9082"/>
                        <a14:foregroundMark x1="50342" y1="9082" x2="90674" y2="44727"/>
                        <a14:foregroundMark x1="90674" y1="44727" x2="90527" y2="52686"/>
                        <a14:foregroundMark x1="90527" y1="52686" x2="64648" y2="73730"/>
                        <a14:foregroundMark x1="64648" y1="73730" x2="54883" y2="87695"/>
                        <a14:foregroundMark x1="54883" y1="87695" x2="45850" y2="85889"/>
                        <a14:foregroundMark x1="45850" y1="85889" x2="24463" y2="63623"/>
                        <a14:foregroundMark x1="24463" y1="63623" x2="19971" y2="54395"/>
                        <a14:foregroundMark x1="19971" y1="54395" x2="12354" y2="50732"/>
                        <a14:foregroundMark x1="12354" y1="50732" x2="11621" y2="43018"/>
                        <a14:foregroundMark x1="11621" y1="43018" x2="27539" y2="31543"/>
                        <a14:foregroundMark x1="27539" y1="31543" x2="31396" y2="25537"/>
                        <a14:foregroundMark x1="6787" y1="48340" x2="28760" y2="27246"/>
                        <a14:foregroundMark x1="95850" y1="49023" x2="86426" y2="44434"/>
                        <a14:foregroundMark x1="86426" y1="44434" x2="76123" y2="30811"/>
                        <a14:foregroundMark x1="57520" y1="13037" x2="73633" y2="29004"/>
                        <a14:foregroundMark x1="49854" y1="6543" x2="49854" y2="6543"/>
                        <a14:foregroundMark x1="50977" y1="92627" x2="50977" y2="92627"/>
                        <a14:foregroundMark x1="16260" y1="52783" x2="20850" y2="58496"/>
                        <a14:foregroundMark x1="96533" y1="49463" x2="89600" y2="57373"/>
                        <a14:foregroundMark x1="41650" y1="80713" x2="33057" y2="72900"/>
                        <a14:foregroundMark x1="38037" y1="77344" x2="42627" y2="79736"/>
                        <a14:foregroundMark x1="96533" y1="50146" x2="96533" y2="50146"/>
                        <a14:foregroundMark x1="5420" y1="50439" x2="5420" y2="50439"/>
                      </a14:backgroundRemoval>
                    </a14:imgEffect>
                    <a14:imgEffect>
                      <a14:brightnessContrast bright="-10000" contras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52153" y="1096255"/>
            <a:ext cx="4487692" cy="4487690"/>
          </a:xfrm>
          <a:prstGeom prst="rect">
            <a:avLst/>
          </a:prstGeom>
          <a:effectLst>
            <a:outerShdw blurRad="101600" dist="38100" dir="2700000" sx="102000" sy="102000" algn="tl" rotWithShape="0">
              <a:prstClr val="black">
                <a:alpha val="40000"/>
              </a:prstClr>
            </a:outerShdw>
          </a:effectLst>
          <a:scene3d>
            <a:camera prst="orthographicFront">
              <a:rot lat="19832745" lon="204518" rev="593917"/>
            </a:camera>
            <a:lightRig rig="threePt" dir="t"/>
          </a:scene3d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9D7EB464-9725-2950-D191-91C937C278D3}"/>
              </a:ext>
            </a:extLst>
          </p:cNvPr>
          <p:cNvSpPr txBox="1"/>
          <p:nvPr/>
        </p:nvSpPr>
        <p:spPr>
          <a:xfrm>
            <a:off x="2399512" y="4481873"/>
            <a:ext cx="2548646" cy="2548645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altLang="ko-KR" sz="3000" b="1" dirty="0">
                <a:solidFill>
                  <a:schemeClr val="bg1"/>
                </a:solidFill>
              </a:rPr>
              <a:t>Mobile</a:t>
            </a:r>
          </a:p>
          <a:p>
            <a:pPr algn="ctr"/>
            <a:r>
              <a:rPr lang="en-US" altLang="ko-KR" sz="3000" b="1" dirty="0">
                <a:solidFill>
                  <a:schemeClr val="bg1"/>
                </a:solidFill>
              </a:rPr>
              <a:t>Devices</a:t>
            </a:r>
            <a:endParaRPr lang="ko-KR" altLang="en-US" sz="3000" b="1" dirty="0">
              <a:solidFill>
                <a:schemeClr val="bg1"/>
              </a:solidFill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B1F6652-2553-3A91-5F6E-146A812FA2C4}"/>
              </a:ext>
            </a:extLst>
          </p:cNvPr>
          <p:cNvSpPr txBox="1"/>
          <p:nvPr/>
        </p:nvSpPr>
        <p:spPr>
          <a:xfrm>
            <a:off x="2399512" y="-376587"/>
            <a:ext cx="2548646" cy="2548645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altLang="ko-KR" sz="3000" b="1" dirty="0">
                <a:solidFill>
                  <a:schemeClr val="bg1"/>
                </a:solidFill>
              </a:rPr>
              <a:t>Computer</a:t>
            </a:r>
            <a:br>
              <a:rPr lang="en-US" altLang="ko-KR" sz="3000" b="1" dirty="0">
                <a:solidFill>
                  <a:schemeClr val="bg1"/>
                </a:solidFill>
              </a:rPr>
            </a:br>
            <a:r>
              <a:rPr lang="en-US" altLang="ko-KR" sz="3000" b="1" dirty="0">
                <a:solidFill>
                  <a:schemeClr val="bg1"/>
                </a:solidFill>
              </a:rPr>
              <a:t>Architecture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1F6927B-5D9C-C0D8-77C8-593785D289CF}"/>
              </a:ext>
            </a:extLst>
          </p:cNvPr>
          <p:cNvSpPr txBox="1"/>
          <p:nvPr/>
        </p:nvSpPr>
        <p:spPr>
          <a:xfrm>
            <a:off x="7065522" y="-376587"/>
            <a:ext cx="2548646" cy="2548645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altLang="ko-KR" sz="3000" b="1" dirty="0">
                <a:solidFill>
                  <a:schemeClr val="bg1"/>
                </a:solidFill>
              </a:rPr>
              <a:t>Artificial Intelligence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520DC81-5E44-C9B4-5DC3-2A5B60CE1EB7}"/>
              </a:ext>
            </a:extLst>
          </p:cNvPr>
          <p:cNvSpPr txBox="1"/>
          <p:nvPr/>
        </p:nvSpPr>
        <p:spPr>
          <a:xfrm>
            <a:off x="7065522" y="4479170"/>
            <a:ext cx="2548646" cy="2548645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altLang="ko-KR" sz="3000" b="1" dirty="0">
                <a:solidFill>
                  <a:schemeClr val="bg1"/>
                </a:solidFill>
              </a:rPr>
              <a:t>Hardware</a:t>
            </a:r>
          </a:p>
          <a:p>
            <a:pPr algn="ctr"/>
            <a:r>
              <a:rPr lang="en-US" altLang="ko-KR" sz="3000" b="1" dirty="0">
                <a:solidFill>
                  <a:schemeClr val="bg1"/>
                </a:solidFill>
              </a:rPr>
              <a:t>Accelerator</a:t>
            </a:r>
          </a:p>
        </p:txBody>
      </p:sp>
    </p:spTree>
    <p:extLst>
      <p:ext uri="{BB962C8B-B14F-4D97-AF65-F5344CB8AC3E}">
        <p14:creationId xmlns:p14="http://schemas.microsoft.com/office/powerpoint/2010/main" val="27293978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473B6812-93DA-A4E2-707E-7746EF7B6DD2}"/>
              </a:ext>
            </a:extLst>
          </p:cNvPr>
          <p:cNvSpPr/>
          <p:nvPr/>
        </p:nvSpPr>
        <p:spPr>
          <a:xfrm>
            <a:off x="2549724" y="5583348"/>
            <a:ext cx="7092552" cy="983053"/>
          </a:xfrm>
          <a:prstGeom prst="roundRect">
            <a:avLst/>
          </a:prstGeom>
          <a:gradFill>
            <a:gsLst>
              <a:gs pos="0">
                <a:srgbClr val="FF3737">
                  <a:alpha val="89804"/>
                </a:srgbClr>
              </a:gs>
              <a:gs pos="50000">
                <a:srgbClr val="FF3737"/>
              </a:gs>
              <a:gs pos="100000">
                <a:srgbClr val="FF4343">
                  <a:alpha val="80000"/>
                </a:srgbClr>
              </a:gs>
            </a:gsLst>
          </a:gradFill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b="1" dirty="0"/>
              <a:t>SoC(System on Chip)</a:t>
            </a:r>
            <a:r>
              <a:rPr lang="ko-KR" altLang="en-US" b="1" dirty="0"/>
              <a:t>는 다양한 기능을 수행하는 시스템을</a:t>
            </a:r>
            <a:endParaRPr lang="en-US" altLang="ko-KR" b="1" dirty="0"/>
          </a:p>
          <a:p>
            <a:pPr algn="ctr"/>
            <a:r>
              <a:rPr lang="ko-KR" altLang="en-US" b="1" dirty="0"/>
              <a:t>하나의 칩에 집적화한 </a:t>
            </a:r>
            <a:r>
              <a:rPr lang="ko-KR" altLang="en-US" sz="2400" b="1" dirty="0"/>
              <a:t>차세대 반도체 기술</a:t>
            </a: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ED8C4C3F-819A-A15D-4B91-44D3AE3924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3563" y="-91693"/>
            <a:ext cx="7644874" cy="5527896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C755D64E-FF95-FD0C-89A9-B4E907B96F6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23359" r="-23359"/>
          <a:stretch/>
        </p:blipFill>
        <p:spPr>
          <a:xfrm>
            <a:off x="487679" y="30185"/>
            <a:ext cx="11216642" cy="6797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78568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그림 11">
            <a:extLst>
              <a:ext uri="{FF2B5EF4-FFF2-40B4-BE49-F238E27FC236}">
                <a16:creationId xmlns:a16="http://schemas.microsoft.com/office/drawing/2014/main" id="{5530C355-355A-6C65-0042-99042839362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4895" y="182528"/>
            <a:ext cx="9144000" cy="41634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33779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집, 스크린샷, 창문, 파노라마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845470E7-C6A3-A8B7-D09B-9668D2E4011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5093" y="1314452"/>
            <a:ext cx="10679364" cy="2114548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C308CB19-72D9-DFE9-C9B5-CE10CC8586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2905714" y="1797011"/>
            <a:ext cx="248853" cy="445293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94D4604D-FA98-343E-DED5-DE2A9176D24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5441" y="2371252"/>
            <a:ext cx="10681118" cy="21154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96459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">
            <a:extLst>
              <a:ext uri="{FF2B5EF4-FFF2-40B4-BE49-F238E27FC236}">
                <a16:creationId xmlns:a16="http://schemas.microsoft.com/office/drawing/2014/main" id="{C54F3374-6F13-124C-6C61-523C4EF164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1327" y="2145538"/>
            <a:ext cx="5008765" cy="1163512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5" name="Picture 2">
            <a:extLst>
              <a:ext uri="{FF2B5EF4-FFF2-40B4-BE49-F238E27FC236}">
                <a16:creationId xmlns:a16="http://schemas.microsoft.com/office/drawing/2014/main" id="{DAFFB9DB-814C-5D41-8DE7-8829E41FA5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88486" y="359742"/>
            <a:ext cx="4951285" cy="2949307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A72A42D7-0A5D-446D-874B-33B7801C9D2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7337" y="359743"/>
            <a:ext cx="2680651" cy="1706751"/>
          </a:xfrm>
          <a:prstGeom prst="rect">
            <a:avLst/>
          </a:prstGeom>
          <a:noFill/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24BDED90-515C-472C-8788-AF74A02AB84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81374" y="359743"/>
            <a:ext cx="3008719" cy="1695184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49C747A3-815E-E3C2-A4DF-CE1D63FB380A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7337" y="3802771"/>
            <a:ext cx="2924545" cy="2921879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19852338-2B3B-F2EF-0AD7-8A9279BEAD5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5782" y="3055229"/>
            <a:ext cx="11028620" cy="2950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12547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215</TotalTime>
  <Words>152</Words>
  <Application>Microsoft Office PowerPoint</Application>
  <PresentationFormat>와이드스크린</PresentationFormat>
  <Paragraphs>15</Paragraphs>
  <Slides>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1" baseType="lpstr">
      <vt:lpstr>맑은 고딕</vt:lpstr>
      <vt:lpstr>Arial</vt:lpstr>
      <vt:lpstr>Times New Roman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정성훈</dc:creator>
  <cp:lastModifiedBy>정성훈</cp:lastModifiedBy>
  <cp:revision>1</cp:revision>
  <dcterms:created xsi:type="dcterms:W3CDTF">2025-05-27T05:05:11Z</dcterms:created>
  <dcterms:modified xsi:type="dcterms:W3CDTF">2025-05-27T08:40:36Z</dcterms:modified>
</cp:coreProperties>
</file>